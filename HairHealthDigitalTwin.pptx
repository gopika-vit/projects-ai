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04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9B53-74FD-CD54-6314-DF92D7673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335BF-D0CF-9363-380E-0CA0378CA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1B090-002F-5C1F-DEF8-ECA7D254C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B9C2E-41FC-9F85-490D-E599C986A8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427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457200"/>
            <a:ext cx="4114800" cy="4114800"/>
          </a:xfrm>
          <a:prstGeom prst="ellipse">
            <a:avLst/>
          </a:prstGeom>
          <a:solidFill>
            <a:srgbClr val="1A3A6E">
              <a:alpha val="40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274320"/>
            <a:ext cx="2743200" cy="274320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Twin-Based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Hair Health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Prediction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</a:t>
            </a:r>
            <a:r>
              <a:rPr lang="en-US" sz="2600" b="1" dirty="0" err="1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Random Forest Regressor 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8288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199" y="3383280"/>
            <a:ext cx="6688667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						Submitted To:	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Gopika A						Dr. Shweta Saxena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25MAS10037					                     VIT Bhopal University </a:t>
            </a:r>
          </a:p>
          <a:p>
            <a:pPr marL="0" indent="0" algn="l">
              <a:buNone/>
            </a:pPr>
            <a:r>
              <a:rPr lang="en-US" sz="12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</a:t>
            </a: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and 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Presentation  |  Digital Health Innovation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Health Complexity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Influenced by genetics, lifestyle &amp; environment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7889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344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proactive. Generic, not personalized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43000"/>
            <a:ext cx="27889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344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Digital Twin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predict &amp; personalize hair care intelligently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840480"/>
            <a:ext cx="8595360" cy="77724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8404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Idea:  Digital Twin + AI  →  Monitor, Predict &amp; Personalize Hair Care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749808"/>
          </a:xfrm>
          <a:prstGeom prst="rect">
            <a:avLst/>
          </a:prstGeom>
          <a:solidFill>
            <a:srgbClr val="162D52"/>
          </a:solidFill>
          <a:ln w="1016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73152" cy="74980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197864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provides CONTINUOUS monitoring of hair health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8595360" cy="749808"/>
          </a:xfrm>
          <a:prstGeom prst="rect">
            <a:avLst/>
          </a:prstGeom>
          <a:solidFill>
            <a:srgbClr val="162D52"/>
          </a:solidFill>
          <a:ln w="1016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39112"/>
            <a:ext cx="73152" cy="74980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3911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093976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only detect — they cannot PREDICT future conditions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935224"/>
            <a:ext cx="8595360" cy="749808"/>
          </a:xfrm>
          <a:prstGeom prst="rect">
            <a:avLst/>
          </a:prstGeom>
          <a:solidFill>
            <a:srgbClr val="162D52"/>
          </a:solidFill>
          <a:ln w="1016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35224"/>
            <a:ext cx="73152" cy="74980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3522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99008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PERSONALIZED treatment recommendations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831336"/>
            <a:ext cx="8595360" cy="749808"/>
          </a:xfrm>
          <a:prstGeom prst="rect">
            <a:avLst/>
          </a:prstGeom>
          <a:solidFill>
            <a:srgbClr val="162D52"/>
          </a:solidFill>
          <a:ln w="1016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31336"/>
            <a:ext cx="73152" cy="74980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3133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of hair data, lifestyle factors &amp; predictive simulation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F6B9D">
              <a:alpha val="7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Need for a PREDICTIVE, PERSONALIZED, and INTELLIGENT system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Literature Review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2788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278892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2606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1: Digital Twin in Dermatology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+ AI for skin disease monitoring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2606040" cy="36576"/>
          </a:xfrm>
          <a:prstGeom prst="rect">
            <a:avLst/>
          </a:prstGeom>
          <a:solidFill>
            <a:srgbClr val="DDECF9"/>
          </a:solidFill>
          <a:ln w="12700">
            <a:solidFill>
              <a:srgbClr val="DDEC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Limitation: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063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address hair-specific conditions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1097280"/>
            <a:ext cx="2788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097280"/>
            <a:ext cx="278892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115568"/>
            <a:ext cx="2606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 AI-Based Hair Loss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408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4408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for hair fall detection &amp; baldness classification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64408" y="2697480"/>
            <a:ext cx="2606040" cy="36576"/>
          </a:xfrm>
          <a:prstGeom prst="rect">
            <a:avLst/>
          </a:prstGeom>
          <a:solidFill>
            <a:srgbClr val="DDECF9"/>
          </a:solidFill>
          <a:ln w="12700">
            <a:solidFill>
              <a:srgbClr val="DDEC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Limitation: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3063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diagnosis — no prediction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63056" y="1097280"/>
            <a:ext cx="2788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097280"/>
            <a:ext cx="278892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115568"/>
            <a:ext cx="2606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3: AI in Personalized Healthcare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54496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54496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user lifestyle for personalized recommendations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54496" y="2697480"/>
            <a:ext cx="2606040" cy="36576"/>
          </a:xfrm>
          <a:prstGeom prst="rect">
            <a:avLst/>
          </a:prstGeom>
          <a:solidFill>
            <a:srgbClr val="DDECF9"/>
          </a:solidFill>
          <a:ln w="12700">
            <a:solidFill>
              <a:srgbClr val="DDEC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Limitation: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3063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twin simulation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4251960"/>
            <a:ext cx="877824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2880" y="425196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Research Gap:  No study combines Digital Twin + Hair Analysis + Prediction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B312A-B68E-C2B4-CC08-72AF9761A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023148-9BE2-BB19-71F8-AE5B16D317A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B671F8-C6AC-E94F-3073-890C48B44876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6A3721-ED64-A858-4537-7F06E6C7199B}"/>
              </a:ext>
            </a:extLst>
          </p:cNvPr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Literature Review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5315BB0-79BE-61D2-DBA0-A7E947216DE6}"/>
              </a:ext>
            </a:extLst>
          </p:cNvPr>
          <p:cNvSpPr/>
          <p:nvPr/>
        </p:nvSpPr>
        <p:spPr>
          <a:xfrm>
            <a:off x="192024" y="1143000"/>
            <a:ext cx="2765213" cy="281178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/>
          </a:p>
          <a:p>
            <a:r>
              <a:rPr lang="en-US" sz="1100"/>
              <a:t>A </a:t>
            </a:r>
            <a:r>
              <a:rPr lang="en-US" sz="1100" dirty="0"/>
              <a:t>retrospective study used 318 </a:t>
            </a:r>
            <a:r>
              <a:rPr lang="en-US" sz="1100" dirty="0" err="1"/>
              <a:t>trichoscopic</a:t>
            </a:r>
            <a:r>
              <a:rPr lang="en-US" sz="1100" dirty="0"/>
              <a:t> scalp images labeled with the BASP system and fine‑tuned a ResNet‑18 CNN (pre‑trained on ImageNet) for binary classification (BASP 0 vs BASP 1‑3). Internal 5‑fold cross‑validation yielded &gt; 0.90 accuracy in four folds and AUC &gt; 0.93; external hold‑out testing (20 images) achieved 0.90 accuracy (95 % CI 0.77–1.03) and AUC 0.97, with perfect recall for early‑stage loss. No data augmentation was needed and model convergence was stable. </a:t>
            </a:r>
          </a:p>
          <a:p>
            <a:endParaRPr lang="en-IN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B28E41A-09A2-A4C3-C39D-C805C94C7FD0}"/>
              </a:ext>
            </a:extLst>
          </p:cNvPr>
          <p:cNvSpPr/>
          <p:nvPr/>
        </p:nvSpPr>
        <p:spPr>
          <a:xfrm>
            <a:off x="182880" y="1097280"/>
            <a:ext cx="278892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5E3A07F-10DC-EE20-28C1-3799B8EDA4EC}"/>
              </a:ext>
            </a:extLst>
          </p:cNvPr>
          <p:cNvSpPr/>
          <p:nvPr/>
        </p:nvSpPr>
        <p:spPr>
          <a:xfrm>
            <a:off x="283464" y="1188720"/>
            <a:ext cx="2596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1: </a:t>
            </a:r>
            <a:r>
              <a:rPr lang="en-US" sz="1100" dirty="0">
                <a:solidFill>
                  <a:schemeClr val="bg1"/>
                </a:solidFill>
              </a:rPr>
              <a:t>Early‑stage androgenetic alopecia detection (2025)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592697-9DF1-B5E3-CBC0-62FCD482FA45}"/>
              </a:ext>
            </a:extLst>
          </p:cNvPr>
          <p:cNvSpPr/>
          <p:nvPr/>
        </p:nvSpPr>
        <p:spPr>
          <a:xfrm>
            <a:off x="274320" y="1600200"/>
            <a:ext cx="26060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E8813EC-6DE7-2E3F-F3E3-54BC531D121B}"/>
              </a:ext>
            </a:extLst>
          </p:cNvPr>
          <p:cNvSpPr/>
          <p:nvPr/>
        </p:nvSpPr>
        <p:spPr>
          <a:xfrm>
            <a:off x="274320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1A07A04-2043-3622-A630-4F107244F411}"/>
              </a:ext>
            </a:extLst>
          </p:cNvPr>
          <p:cNvSpPr/>
          <p:nvPr/>
        </p:nvSpPr>
        <p:spPr>
          <a:xfrm>
            <a:off x="2743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F52C586-7A94-0BF8-DCD1-7BDDC68C9F73}"/>
              </a:ext>
            </a:extLst>
          </p:cNvPr>
          <p:cNvSpPr/>
          <p:nvPr/>
        </p:nvSpPr>
        <p:spPr>
          <a:xfrm>
            <a:off x="274320" y="3063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005731F-92C3-6D23-E994-FE57EE4F14BC}"/>
              </a:ext>
            </a:extLst>
          </p:cNvPr>
          <p:cNvSpPr/>
          <p:nvPr/>
        </p:nvSpPr>
        <p:spPr>
          <a:xfrm>
            <a:off x="3172968" y="1024128"/>
            <a:ext cx="278892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5F7D401-A6EE-CCF8-24B6-79CAD25D469E}"/>
              </a:ext>
            </a:extLst>
          </p:cNvPr>
          <p:cNvSpPr/>
          <p:nvPr/>
        </p:nvSpPr>
        <p:spPr>
          <a:xfrm>
            <a:off x="3172968" y="1097280"/>
            <a:ext cx="278892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441D426-23E4-19AC-C53F-8187D789595C}"/>
              </a:ext>
            </a:extLst>
          </p:cNvPr>
          <p:cNvSpPr/>
          <p:nvPr/>
        </p:nvSpPr>
        <p:spPr>
          <a:xfrm>
            <a:off x="3264408" y="1143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</a:t>
            </a:r>
            <a:r>
              <a:rPr lang="en-IN" sz="1100" dirty="0">
                <a:solidFill>
                  <a:schemeClr val="bg1"/>
                </a:solidFill>
              </a:rPr>
              <a:t>CNN for multi‑disease scalp image diagnosis (2025</a:t>
            </a:r>
          </a:p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93217C6-9636-137A-44AB-49D6CB2632C4}"/>
              </a:ext>
            </a:extLst>
          </p:cNvPr>
          <p:cNvSpPr/>
          <p:nvPr/>
        </p:nvSpPr>
        <p:spPr>
          <a:xfrm>
            <a:off x="3264408" y="1600200"/>
            <a:ext cx="2606040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The authors assembled 150 images of three scalp conditions (alopecia, psoriasis, folliculitis) from public repositories, applied denoising, contrast enhancement, and histogram equalization, then trained a 2‑D CNN. Training accuracy reached 97 % and validation accuracy 92 %, demonstrating that a relatively small, pre‑processed dataset can support robust multi‑class scalp disease classification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3548536-315A-C65A-DDD4-730A37D436C8}"/>
              </a:ext>
            </a:extLst>
          </p:cNvPr>
          <p:cNvSpPr/>
          <p:nvPr/>
        </p:nvSpPr>
        <p:spPr>
          <a:xfrm>
            <a:off x="3264408" y="1874520"/>
            <a:ext cx="2606040" cy="215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59DDD35-BD42-328B-0A28-6D8F3396A05A}"/>
              </a:ext>
            </a:extLst>
          </p:cNvPr>
          <p:cNvSpPr/>
          <p:nvPr/>
        </p:nvSpPr>
        <p:spPr>
          <a:xfrm>
            <a:off x="6163056" y="1097280"/>
            <a:ext cx="2788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93267B8-AE20-675E-64C6-F049FC2AAEB2}"/>
              </a:ext>
            </a:extLst>
          </p:cNvPr>
          <p:cNvSpPr/>
          <p:nvPr/>
        </p:nvSpPr>
        <p:spPr>
          <a:xfrm>
            <a:off x="6163056" y="1097280"/>
            <a:ext cx="278892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32669F-BFBF-40FB-0B71-0CBA16B51DA3}"/>
              </a:ext>
            </a:extLst>
          </p:cNvPr>
          <p:cNvSpPr/>
          <p:nvPr/>
        </p:nvSpPr>
        <p:spPr>
          <a:xfrm>
            <a:off x="6254496" y="1115568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3: </a:t>
            </a:r>
            <a:r>
              <a:rPr lang="en-US" sz="1100" dirty="0" err="1">
                <a:solidFill>
                  <a:schemeClr val="bg1"/>
                </a:solidFill>
              </a:rPr>
              <a:t>ScalpVision</a:t>
            </a:r>
            <a:r>
              <a:rPr lang="en-US" sz="1100" dirty="0">
                <a:solidFill>
                  <a:schemeClr val="bg1"/>
                </a:solidFill>
              </a:rPr>
              <a:t>: label‑free segmentation &amp; training‑free image translation (2025)</a:t>
            </a:r>
          </a:p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CBBAB29-3BB7-FFFD-D461-1648F7A1E495}"/>
              </a:ext>
            </a:extLst>
          </p:cNvPr>
          <p:cNvSpPr/>
          <p:nvPr/>
        </p:nvSpPr>
        <p:spPr>
          <a:xfrm>
            <a:off x="6254496" y="1600200"/>
            <a:ext cx="2615184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To overcome the lack of pixel‑level annotations, the system generates pseudo image‑label pairs via a prompting method and augments data with a generative model (</a:t>
            </a:r>
            <a:r>
              <a:rPr lang="en-US" sz="1100" dirty="0" err="1"/>
              <a:t>DiffuseIT</a:t>
            </a:r>
            <a:r>
              <a:rPr lang="en-US" sz="1100" dirty="0"/>
              <a:t>‑M). The AI pipeline combines hair‑segmentation, disease‑severity prediction, and image‑translation modules, achieving high diagnostic efficiency across several scalp disorders without manual masking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4B21C25-80AC-25A5-657B-529163C867BB}"/>
              </a:ext>
            </a:extLst>
          </p:cNvPr>
          <p:cNvSpPr/>
          <p:nvPr/>
        </p:nvSpPr>
        <p:spPr>
          <a:xfrm>
            <a:off x="6254496" y="1874519"/>
            <a:ext cx="2606040" cy="203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4F745E7-55D8-BB30-9E00-C35989C8325E}"/>
              </a:ext>
            </a:extLst>
          </p:cNvPr>
          <p:cNvSpPr/>
          <p:nvPr/>
        </p:nvSpPr>
        <p:spPr>
          <a:xfrm>
            <a:off x="182880" y="4251960"/>
            <a:ext cx="877824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6F5F267-A8D3-CAC2-F2DC-9DC6B3D6C689}"/>
              </a:ext>
            </a:extLst>
          </p:cNvPr>
          <p:cNvSpPr/>
          <p:nvPr/>
        </p:nvSpPr>
        <p:spPr>
          <a:xfrm>
            <a:off x="182880" y="425196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Research Gap:  No study combines Digital Twin + Hair Analysis + Prediction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11507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1097280"/>
          </a:xfrm>
          <a:prstGeom prst="rect">
            <a:avLst/>
          </a:prstGeom>
          <a:solidFill>
            <a:srgbClr val="162D52"/>
          </a:solidFill>
          <a:ln w="1016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658368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5361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Scalp images + user data (age, diet, stress, sleep)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160520" cy="1097280"/>
          </a:xfrm>
          <a:prstGeom prst="rect">
            <a:avLst/>
          </a:prstGeom>
          <a:solidFill>
            <a:srgbClr val="162D52"/>
          </a:solidFill>
          <a:ln w="1016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78992"/>
            <a:ext cx="658368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78992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58968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15361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cleaning, normalization &amp; feature extraction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40864"/>
            <a:ext cx="4160520" cy="1097280"/>
          </a:xfrm>
          <a:prstGeom prst="rect">
            <a:avLst/>
          </a:prstGeom>
          <a:solidFill>
            <a:srgbClr val="162D52"/>
          </a:solidFill>
          <a:ln w="1016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40864"/>
            <a:ext cx="658368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40864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2404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27980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for classification + Regression for prediction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40864"/>
            <a:ext cx="4160520" cy="1097280"/>
          </a:xfrm>
          <a:prstGeom prst="rect">
            <a:avLst/>
          </a:prstGeom>
          <a:solidFill>
            <a:srgbClr val="162D52"/>
          </a:solidFill>
          <a:ln w="1016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40864"/>
            <a:ext cx="658368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340864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58968" y="2404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58968" y="27980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model of hair density &amp; growth patterns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02736"/>
            <a:ext cx="4160520" cy="1097280"/>
          </a:xfrm>
          <a:prstGeom prst="rect">
            <a:avLst/>
          </a:prstGeom>
          <a:solidFill>
            <a:srgbClr val="162D52"/>
          </a:solidFill>
          <a:ln w="1016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02736"/>
            <a:ext cx="658368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02736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36667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40599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conditions &amp; lifestyle impact analysis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02736"/>
            <a:ext cx="4160520" cy="1097280"/>
          </a:xfrm>
          <a:prstGeom prst="rect">
            <a:avLst/>
          </a:prstGeom>
          <a:solidFill>
            <a:srgbClr val="162D52"/>
          </a:solidFill>
          <a:ln w="1016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02736"/>
            <a:ext cx="658368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602736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58968" y="36667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58968" y="40599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diet changes &amp; medical advice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AI Model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132588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344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Scalp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609344"/>
            <a:ext cx="73152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7632" y="1234440"/>
            <a:ext cx="132588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27632" y="12344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(ResNet-50)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53512" y="1609344"/>
            <a:ext cx="73152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26664" y="1234440"/>
            <a:ext cx="1325880" cy="822960"/>
          </a:xfrm>
          <a:prstGeom prst="rect">
            <a:avLst/>
          </a:prstGeom>
          <a:solidFill>
            <a:srgbClr val="0277BD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26664" y="12344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Condition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52544" y="1609344"/>
            <a:ext cx="73152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1234440"/>
            <a:ext cx="1325880" cy="822960"/>
          </a:xfrm>
          <a:prstGeom prst="rect">
            <a:avLst/>
          </a:prstGeom>
          <a:solidFill>
            <a:srgbClr val="00695C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25696" y="12344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51576" y="1609344"/>
            <a:ext cx="73152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4728" y="1234440"/>
            <a:ext cx="1325880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24728" y="12344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Profile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50608" y="1609344"/>
            <a:ext cx="73152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1234440"/>
            <a:ext cx="1325880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2344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Insights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331720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331720"/>
            <a:ext cx="27889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423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20040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 —  ResNet-50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0040" y="3429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hair &amp; scalp images into: Hair Fall / Dandruff / Bald / Normal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343400"/>
            <a:ext cx="187452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43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18688" y="2331720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2331720"/>
            <a:ext cx="27889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423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310128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10128" y="3429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future hair fall rate using age, diet, stress &amp; prior conditions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75888" y="4343400"/>
            <a:ext cx="187452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75888" y="4343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08776" y="2331720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08776" y="2331720"/>
            <a:ext cx="27889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2423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300216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Recommender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300216" y="3429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detected conditions → personalized product &amp; diet suggestions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65976" y="4343400"/>
            <a:ext cx="187452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65976" y="4343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Novelty &amp; Innovation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788920" cy="1600200"/>
          </a:xfrm>
          <a:prstGeom prst="rect">
            <a:avLst/>
          </a:prstGeom>
          <a:solidFill>
            <a:srgbClr val="162D52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070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7099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of its Kind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0756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approach combining Digital Twin + Hair Health monitoring &amp; prediction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115568"/>
            <a:ext cx="2788920" cy="1600200"/>
          </a:xfrm>
          <a:prstGeom prst="rect">
            <a:avLst/>
          </a:prstGeom>
          <a:solidFill>
            <a:srgbClr val="162D52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2070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7099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0756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updated virtual profile based on incoming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115568"/>
            <a:ext cx="2788920" cy="1600200"/>
          </a:xfrm>
          <a:prstGeom prst="rect">
            <a:avLst/>
          </a:prstGeom>
          <a:solidFill>
            <a:srgbClr val="162D52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2070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17099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0756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future hair condition before damage occurs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2788920" cy="1600200"/>
          </a:xfrm>
          <a:prstGeom prst="rect">
            <a:avLst/>
          </a:prstGeom>
          <a:solidFill>
            <a:srgbClr val="162D52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" y="3017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" y="3520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Personalized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886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lifestyle data for individual-specific recommendations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788920" cy="1600200"/>
          </a:xfrm>
          <a:prstGeom prst="rect">
            <a:avLst/>
          </a:prstGeom>
          <a:solidFill>
            <a:srgbClr val="162D52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3017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91840" y="3520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→ Predictive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886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paradigm from treating damage to preventing 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2926080"/>
            <a:ext cx="2788920" cy="1600200"/>
          </a:xfrm>
          <a:prstGeom prst="rect">
            <a:avLst/>
          </a:prstGeom>
          <a:solidFill>
            <a:srgbClr val="162D52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017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63640" y="3520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886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image AI, lifestyle regression, twin simulation in one pipeline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Expected Outcomes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54864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777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hair problems before they become visible or serious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90872" y="109728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097280"/>
            <a:ext cx="54864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097280"/>
            <a:ext cx="777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50992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Prediction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50992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hair loss rate and progression with ML precision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01752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017520"/>
            <a:ext cx="54864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17520"/>
            <a:ext cx="777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Suggestions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treatment: products, diet, and medical guidance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90872" y="301752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3017520"/>
            <a:ext cx="54864" cy="1645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017520"/>
            <a:ext cx="777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50992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Management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50992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intelligent platform for hair health lifecycle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Conclusion &amp; Future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114800" cy="3383280"/>
          </a:xfrm>
          <a:prstGeom prst="rect">
            <a:avLst/>
          </a:prstGeom>
          <a:solidFill>
            <a:srgbClr val="162D52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43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integration of Digital Twin + AI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of hair health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— not reactive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gap: diagnosis → future prevention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Extendable to dermatology &amp; wider healthcare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343400" cy="3383280"/>
          </a:xfrm>
          <a:prstGeom prst="rect">
            <a:avLst/>
          </a:prstGeom>
          <a:solidFill>
            <a:srgbClr val="162D52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143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3134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IoT-based scalp sensors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93522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GAN-based hair growth simulation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355701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Clinical validation with real users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608576"/>
            <a:ext cx="9144000" cy="4800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902</Words>
  <Application>Microsoft Office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Twin-Based Personalized Hair Health Monitoring</dc:title>
  <dc:subject>PptxGenJS Presentation</dc:subject>
  <dc:creator>Research Presentation</dc:creator>
  <cp:lastModifiedBy>goopikaa@outlook.com</cp:lastModifiedBy>
  <cp:revision>4</cp:revision>
  <dcterms:created xsi:type="dcterms:W3CDTF">2026-04-02T20:09:04Z</dcterms:created>
  <dcterms:modified xsi:type="dcterms:W3CDTF">2026-04-02T20:33:00Z</dcterms:modified>
</cp:coreProperties>
</file>